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513297" y="1383623"/>
            <a:ext cx="21907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3798095" y="1305041"/>
            <a:ext cx="15478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HACKATHON BUILD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11628" y="1383623"/>
            <a:ext cx="21907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619497" y="1609246"/>
            <a:ext cx="1905000" cy="428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FinGuard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071688" y="2169673"/>
            <a:ext cx="5000625" cy="447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spcBef>
                <a:spcPts val="105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AI-powered bank fraud and AML investigation platform.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00372" y="2759273"/>
            <a:ext cx="31432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112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FinGuard Team • Banking security, re-engineered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34692" y="3501271"/>
            <a:ext cx="823913" cy="338137"/>
          </a:xfrm>
          <a:prstGeom prst="roundRect">
            <a:avLst>
              <a:gd name="adj" fmla="val 11426"/>
            </a:avLst>
          </a:prstGeom>
          <a:solidFill>
            <a:srgbClr val="1E293B">
              <a:alpha val="88000"/>
            </a:srgbClr>
          </a:solidFill>
          <a:ln w="3810">
            <a:solidFill>
              <a:srgbClr val="7DD3FC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992" y="3610808"/>
            <a:ext cx="119062" cy="1190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6164" y="3591758"/>
            <a:ext cx="36671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963800" y="3501271"/>
            <a:ext cx="1062038" cy="338137"/>
          </a:xfrm>
          <a:prstGeom prst="roundRect">
            <a:avLst>
              <a:gd name="adj" fmla="val 11426"/>
            </a:avLst>
          </a:prstGeom>
          <a:solidFill>
            <a:srgbClr val="1E293B">
              <a:alpha val="88000"/>
            </a:srgbClr>
          </a:solidFill>
          <a:ln w="3810">
            <a:solidFill>
              <a:srgbClr val="10B981">
                <a:alpha val="4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405" y="3610808"/>
            <a:ext cx="119062" cy="1190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87649" y="3591758"/>
            <a:ext cx="6000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Investigate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129600" y="3501271"/>
            <a:ext cx="981075" cy="338137"/>
          </a:xfrm>
          <a:prstGeom prst="roundRect">
            <a:avLst>
              <a:gd name="adj" fmla="val 11426"/>
            </a:avLst>
          </a:prstGeom>
          <a:solidFill>
            <a:srgbClr val="1E293B">
              <a:alpha val="88000"/>
            </a:srgbClr>
          </a:solidFill>
          <a:ln w="3810">
            <a:solidFill>
              <a:srgbClr val="F59E0B">
                <a:alpha val="45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3610808"/>
            <a:ext cx="119062" cy="1190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53449" y="3591758"/>
            <a:ext cx="51911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 faster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85876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Broken, Siloed Fraud Operations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1010780"/>
            <a:ext cx="533400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Investigators lose time stitching together fragmented signals instead of acting on risk.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150" y="2422982"/>
            <a:ext cx="57150" cy="5715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59E0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0285" y="2365832"/>
            <a:ext cx="3429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correlation is painfully manual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0285" y="2594670"/>
            <a:ext cx="34290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45–90 minutes lost across 5+ tools before action begins.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150" y="2990194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50800" dir="16200000">
              <a:srgbClr val="EF44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9749" y="2933044"/>
            <a:ext cx="39814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creates unmanaged queues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749" y="3161882"/>
            <a:ext cx="39814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One-way customer checks turn denials into operational backlog.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150" y="3557408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50800" dir="16200000">
              <a:srgbClr val="8B5CF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9094" y="3500258"/>
            <a:ext cx="38481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Decisions slow while risk compounds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094" y="3729097"/>
            <a:ext cx="38481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 gather context instead of making timely SAR decisions.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150" y="4173200"/>
            <a:ext cx="5048250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17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result: leakage, risk, and non-compliance grow in the gaps between systems.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67475" y="1967477"/>
            <a:ext cx="2238375" cy="2833687"/>
          </a:xfrm>
          <a:prstGeom prst="roundRect">
            <a:avLst>
              <a:gd name="adj" fmla="val 156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00025" dist="85725" dir="5400000">
              <a:srgbClr val="020617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67500" y="2188070"/>
            <a:ext cx="18383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DRAIN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67500" y="2398575"/>
            <a:ext cx="18383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45–90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667500" y="2827200"/>
            <a:ext cx="18383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minutes per investigation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67500" y="3769995"/>
            <a:ext cx="1838325" cy="4763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0" y="3870008"/>
            <a:ext cx="183832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is scattered. Action is delayed.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67500" y="4299585"/>
            <a:ext cx="1838325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5+ tools before a clear decision emerges.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50" y="4173200"/>
            <a:ext cx="50482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1475"/>
            <a:ext cx="82677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FINGUARD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63017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intelligence loop from signal to action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988397"/>
            <a:ext cx="82677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AI-powered operating layer connects transaction systems, investigators, and customers.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971" y="1756498"/>
            <a:ext cx="2624138" cy="3043238"/>
          </a:xfrm>
          <a:prstGeom prst="roundRect">
            <a:avLst>
              <a:gd name="adj" fmla="val 1138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28650" y="1955660"/>
            <a:ext cx="323850" cy="323850"/>
          </a:xfrm>
          <a:prstGeom prst="roundRect">
            <a:avLst>
              <a:gd name="adj" fmla="val 16609"/>
            </a:avLst>
          </a:prstGeom>
          <a:solidFill>
            <a:srgbClr val="123B6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2031860"/>
            <a:ext cx="171450" cy="171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8471" y="2422623"/>
            <a:ext cx="22431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Aft>
                <a:spcPts val="675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Investigation Copilot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8471" y="2693729"/>
            <a:ext cx="2243138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Sits between transaction systems and investigators, turning live signals into clear next steps.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8650" y="3397983"/>
            <a:ext cx="42863" cy="4286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738574" y="3354406"/>
            <a:ext cx="1376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Surfaces the right context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8650" y="3625155"/>
            <a:ext cx="42863" cy="4286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737860" y="3581579"/>
            <a:ext cx="179546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Accelerates investigator decisions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62282" y="1756498"/>
            <a:ext cx="2619375" cy="3043238"/>
          </a:xfrm>
          <a:prstGeom prst="roundRect">
            <a:avLst>
              <a:gd name="adj" fmla="val 1142"/>
            </a:avLst>
          </a:prstGeom>
          <a:solidFill>
            <a:srgbClr val="172554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50548" y="1953755"/>
            <a:ext cx="323850" cy="323850"/>
          </a:xfrm>
          <a:prstGeom prst="roundRect">
            <a:avLst>
              <a:gd name="adj" fmla="val 16609"/>
            </a:avLst>
          </a:prstGeom>
          <a:solidFill>
            <a:srgbClr val="064E3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748" y="2029955"/>
            <a:ext cx="171450" cy="171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50399" y="2420718"/>
            <a:ext cx="22431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Aft>
                <a:spcPts val="675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Multi-Factor Risk Engine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450399" y="2691824"/>
            <a:ext cx="2243138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Scores anomalies from 0–100 so teams can prioritize the cases that demand attention.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450548" y="3396079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/>
          <p:nvPr/>
        </p:nvSpPr>
        <p:spPr>
          <a:xfrm>
            <a:off x="3558924" y="3352502"/>
            <a:ext cx="18954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signals into one risk view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450548" y="3623251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0"/>
          <p:cNvSpPr/>
          <p:nvPr/>
        </p:nvSpPr>
        <p:spPr>
          <a:xfrm>
            <a:off x="3559549" y="3579674"/>
            <a:ext cx="20764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Makes escalation decisions explainable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081861" y="1756498"/>
            <a:ext cx="2624138" cy="3043238"/>
          </a:xfrm>
          <a:prstGeom prst="roundRect">
            <a:avLst>
              <a:gd name="adj" fmla="val 1138"/>
            </a:avLst>
          </a:prstGeom>
          <a:solidFill>
            <a:srgbClr val="1E293B"/>
          </a:solidFill>
          <a:ln/>
        </p:spPr>
      </p:sp>
      <p:sp>
        <p:nvSpPr>
          <p:cNvPr id="26" name="Shape 22"/>
          <p:cNvSpPr/>
          <p:nvPr/>
        </p:nvSpPr>
        <p:spPr>
          <a:xfrm>
            <a:off x="6272510" y="1955660"/>
            <a:ext cx="323850" cy="323850"/>
          </a:xfrm>
          <a:prstGeom prst="roundRect">
            <a:avLst>
              <a:gd name="adj" fmla="val 16609"/>
            </a:avLst>
          </a:prstGeom>
          <a:solidFill>
            <a:srgbClr val="3F2A1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10" y="2031860"/>
            <a:ext cx="171450" cy="1714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361" y="2422623"/>
            <a:ext cx="22431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Aft>
                <a:spcPts val="675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Closed-Loop Verification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72361" y="2693729"/>
            <a:ext cx="2243138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Two-way customer verification feeds outcomes back into the command center and compliance workflow.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272510" y="3397983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6"/>
          <p:cNvSpPr/>
          <p:nvPr/>
        </p:nvSpPr>
        <p:spPr>
          <a:xfrm>
            <a:off x="6381661" y="3354406"/>
            <a:ext cx="179546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Confirms customer intent directly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272510" y="3625155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28"/>
          <p:cNvSpPr/>
          <p:nvPr/>
        </p:nvSpPr>
        <p:spPr>
          <a:xfrm>
            <a:off x="6382583" y="3581579"/>
            <a:ext cx="16335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Drafts compliance-ready briefs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42424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 OPERATIONS COCKPIT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47687"/>
            <a:ext cx="82677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Closed-Loop Two-Way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8150" y="948689"/>
            <a:ext cx="58102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signal becomes a coordinated decision — with the customer and investigator kept in sync.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150" y="1925954"/>
            <a:ext cx="8267700" cy="1462088"/>
          </a:xfrm>
          <a:prstGeom prst="roundRect">
            <a:avLst>
              <a:gd name="adj" fmla="val 3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50800" dir="16200000">
              <a:srgbClr val="3B82F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8232" y="2103596"/>
            <a:ext cx="16049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RESPONSE PATHWAY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2349" y="2108357"/>
            <a:ext cx="114300" cy="114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53561" y="2086926"/>
            <a:ext cx="9715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sync active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7934" y="2387916"/>
            <a:ext cx="1728788" cy="819150"/>
          </a:xfrm>
          <a:prstGeom prst="roundRect">
            <a:avLst>
              <a:gd name="adj" fmla="val 7788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742950" y="2517932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10156" y="2510789"/>
            <a:ext cx="504825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1759" y="2811779"/>
            <a:ext cx="1481137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Abnormal activity flagged in real time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431256" y="2387916"/>
            <a:ext cx="161925" cy="8191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677716" y="2387916"/>
            <a:ext cx="1728788" cy="819150"/>
          </a:xfrm>
          <a:prstGeom prst="roundRect">
            <a:avLst>
              <a:gd name="adj" fmla="val 7788"/>
            </a:avLst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2802731" y="2517932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069580" y="2510789"/>
            <a:ext cx="43338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801541" y="2811779"/>
            <a:ext cx="1481137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Context-rich prompt reaches customer instantly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491038" y="2387916"/>
            <a:ext cx="161925" cy="8191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37497" y="2387916"/>
            <a:ext cx="1728788" cy="819150"/>
          </a:xfrm>
          <a:prstGeom prst="roundRect">
            <a:avLst>
              <a:gd name="adj" fmla="val 7788"/>
            </a:avLst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4862513" y="2517932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29242" y="2510789"/>
            <a:ext cx="581025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61322" y="2811779"/>
            <a:ext cx="1481137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routes instantly to the right owner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50819" y="2387916"/>
            <a:ext cx="161925" cy="8191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97278" y="2387916"/>
            <a:ext cx="1728788" cy="819150"/>
          </a:xfrm>
          <a:prstGeom prst="roundRect">
            <a:avLst>
              <a:gd name="adj" fmla="val 7788"/>
            </a:avLst>
          </a:prstGeom>
          <a:solidFill>
            <a:srgbClr val="1E293B"/>
          </a:solidFill>
          <a:ln/>
        </p:spPr>
      </p:sp>
      <p:sp>
        <p:nvSpPr>
          <p:cNvPr id="27" name="Text 24"/>
          <p:cNvSpPr/>
          <p:nvPr/>
        </p:nvSpPr>
        <p:spPr>
          <a:xfrm>
            <a:off x="6922294" y="2517932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188190" y="2510789"/>
            <a:ext cx="36195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21103" y="2811779"/>
            <a:ext cx="1481137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Investigator action reflects in the customer portal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38150" y="3599498"/>
            <a:ext cx="2628900" cy="1238250"/>
          </a:xfrm>
          <a:prstGeom prst="roundRect">
            <a:avLst>
              <a:gd name="adj" fmla="val 5112"/>
            </a:avLst>
          </a:prstGeom>
          <a:solidFill>
            <a:srgbClr val="111827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3760470"/>
            <a:ext cx="161925" cy="16192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19125" y="4028123"/>
            <a:ext cx="22669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without delay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19125" y="4314230"/>
            <a:ext cx="2266950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and customer outreach happen in the same operational moment.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257550" y="3599498"/>
            <a:ext cx="2628900" cy="1238250"/>
          </a:xfrm>
          <a:prstGeom prst="roundRect">
            <a:avLst>
              <a:gd name="adj" fmla="val 5112"/>
            </a:avLst>
          </a:prstGeom>
          <a:solidFill>
            <a:srgbClr val="111827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25" y="3760470"/>
            <a:ext cx="161925" cy="16192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438525" y="4028123"/>
            <a:ext cx="22669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with context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3438525" y="4313634"/>
            <a:ext cx="22669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verification gives legitimate customers a fast path to confirm.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438525" y="4658916"/>
            <a:ext cx="342900" cy="19050"/>
          </a:xfrm>
          <a:prstGeom prst="roundRect">
            <a:avLst>
              <a:gd name="adj" fmla="val 600000"/>
            </a:avLst>
          </a:prstGeom>
          <a:solidFill>
            <a:srgbClr val="10B981"/>
          </a:solidFill>
          <a:ln/>
        </p:spPr>
      </p:sp>
      <p:sp>
        <p:nvSpPr>
          <p:cNvPr id="39" name="Shape 34"/>
          <p:cNvSpPr/>
          <p:nvPr/>
        </p:nvSpPr>
        <p:spPr>
          <a:xfrm>
            <a:off x="6076950" y="3599498"/>
            <a:ext cx="2628900" cy="1238250"/>
          </a:xfrm>
          <a:prstGeom prst="roundRect">
            <a:avLst>
              <a:gd name="adj" fmla="val 5112"/>
            </a:avLst>
          </a:prstGeom>
          <a:solidFill>
            <a:srgbClr val="111827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3760470"/>
            <a:ext cx="161925" cy="16192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257925" y="4028123"/>
            <a:ext cx="22669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silent handoffs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257925" y="4313634"/>
            <a:ext cx="22669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Denials escalate immediately, while every investigator update stays visible.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257925" y="4658916"/>
            <a:ext cx="342900" cy="19050"/>
          </a:xfrm>
          <a:prstGeom prst="roundRect">
            <a:avLst>
              <a:gd name="adj" fmla="val 600000"/>
            </a:avLst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90049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INVESTIGATOR WORKSPACE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627"/>
            <a:ext cx="822960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capabilities built for confident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990184"/>
            <a:ext cx="56197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alert moves from evidence to action inside one high-trust investigation environment.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6705"/>
            <a:ext cx="4000500" cy="2814638"/>
          </a:xfrm>
          <a:prstGeom prst="roundRect">
            <a:avLst>
              <a:gd name="adj" fmla="val 1099"/>
            </a:avLst>
          </a:prstGeom>
          <a:solidFill>
            <a:srgbClr val="1E293B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2943" y="2193189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18" y="2259864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5965" y="2226529"/>
            <a:ext cx="1857375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Explainable scoring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2467" y="2602764"/>
            <a:ext cx="3509963" cy="4763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3" y="2750402"/>
            <a:ext cx="133350" cy="133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1542" y="2739924"/>
            <a:ext cx="3290887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 factor breakdowns show why an alert matters.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3" y="3243797"/>
            <a:ext cx="133350" cy="1333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1542" y="3233320"/>
            <a:ext cx="3290887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baselines reveal behavior outside the norm.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02943" y="4462939"/>
            <a:ext cx="47625" cy="476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2"/>
          <p:cNvSpPr/>
          <p:nvPr/>
        </p:nvSpPr>
        <p:spPr>
          <a:xfrm>
            <a:off x="807123" y="4417694"/>
            <a:ext cx="25098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stays visible at every decision point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686300" y="1966705"/>
            <a:ext cx="4000500" cy="2814638"/>
          </a:xfrm>
          <a:prstGeom prst="roundRect">
            <a:avLst>
              <a:gd name="adj" fmla="val 1099"/>
            </a:avLst>
          </a:prstGeom>
          <a:solidFill>
            <a:srgbClr val="111827"/>
          </a:solidFill>
          <a:ln/>
        </p:spPr>
      </p:sp>
      <p:sp>
        <p:nvSpPr>
          <p:cNvPr id="19" name="Shape 14"/>
          <p:cNvSpPr/>
          <p:nvPr/>
        </p:nvSpPr>
        <p:spPr>
          <a:xfrm>
            <a:off x="4924425" y="2185571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2252246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85809" y="2218908"/>
            <a:ext cx="21526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intelligence + AI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924425" y="2595146"/>
            <a:ext cx="3524250" cy="4763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25" y="2742784"/>
            <a:ext cx="133350" cy="1333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43500" y="2732306"/>
            <a:ext cx="33051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graphs expose mule rings and pass-through accounts.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425" y="3236177"/>
            <a:ext cx="133350" cy="1333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43500" y="3225699"/>
            <a:ext cx="33051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copilot turns findings into briefs and audit timelines.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923681" y="4425315"/>
            <a:ext cx="30146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connected signals to investigation-ready output</a:t>
            </a:r>
            <a:endParaRPr lang="en-US" sz="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4749" y="443722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BLUEPRINT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85876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675"/>
              </a:spcAft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Architecture &amp; Stack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1020305"/>
            <a:ext cx="533400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modular, real-time foundation that separates user experience, decision logic, and durable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150" y="1711731"/>
            <a:ext cx="2628900" cy="2486025"/>
          </a:xfrm>
          <a:prstGeom prst="roundRect">
            <a:avLst>
              <a:gd name="adj" fmla="val 1409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38175" y="191089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725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37" y="1991855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7126" y="2015668"/>
            <a:ext cx="119062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38175" y="2443818"/>
            <a:ext cx="22288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75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8175" y="2666702"/>
            <a:ext cx="2228850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675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/ VISUALS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8175" y="3003738"/>
            <a:ext cx="204787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Vanilla JS, HTML5, modular CSS, and Chart.js keep the cockpit fast and adaptable.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57550" y="1711731"/>
            <a:ext cx="2628900" cy="2486025"/>
          </a:xfrm>
          <a:prstGeom prst="roundRect">
            <a:avLst>
              <a:gd name="adj" fmla="val 1409"/>
            </a:avLst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3457575" y="191089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64E3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38" y="1991855"/>
            <a:ext cx="142875" cy="142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47568" y="2015668"/>
            <a:ext cx="138113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457575" y="2443818"/>
            <a:ext cx="22288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75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CORE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57575" y="2666702"/>
            <a:ext cx="2228850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675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+ RISK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457575" y="3003530"/>
            <a:ext cx="2047875" cy="704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Express.js REST services pair live synchronization with deterministic scoring and generative synthesis.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76950" y="1711731"/>
            <a:ext cx="2628900" cy="2486025"/>
          </a:xfrm>
          <a:prstGeom prst="roundRect">
            <a:avLst>
              <a:gd name="adj" fmla="val 1409"/>
            </a:avLst>
          </a:prstGeom>
          <a:solidFill>
            <a:srgbClr val="1E29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276975" y="191089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451A0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38" y="1991855"/>
            <a:ext cx="142875" cy="1428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67174" y="2015668"/>
            <a:ext cx="138113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276975" y="2443818"/>
            <a:ext cx="22288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75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76975" y="2666702"/>
            <a:ext cx="2228850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675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↔ SQL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276975" y="3003738"/>
            <a:ext cx="2047875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a lightweight JSON store, then deploy to PostgreSQL as operational needs mature.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38150" y="4409122"/>
            <a:ext cx="8267700" cy="390525"/>
          </a:xfrm>
          <a:prstGeom prst="roundRect">
            <a:avLst>
              <a:gd name="adj" fmla="val 8566"/>
            </a:avLst>
          </a:prstGeom>
          <a:solidFill>
            <a:srgbClr val="11182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4" y="4537710"/>
            <a:ext cx="133350" cy="1333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60791" y="4528184"/>
            <a:ext cx="5857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principle: keep scoring deterministic, synthesis flexible, and deployment path reversible.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" y="4409122"/>
            <a:ext cx="82677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&amp; COMPLIANCE VALUE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85877"/>
            <a:ext cx="8229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alert overload to trusted action.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011258"/>
            <a:ext cx="82296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speed, zero blind spots, and evidence customers can trust.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974" y="1825883"/>
            <a:ext cx="2614613" cy="1914525"/>
          </a:xfrm>
          <a:prstGeom prst="roundRect">
            <a:avLst>
              <a:gd name="adj" fmla="val 2376"/>
            </a:avLst>
          </a:prstGeom>
          <a:solidFill>
            <a:srgbClr val="111827"/>
          </a:solidFill>
          <a:ln w="3810">
            <a:solidFill>
              <a:srgbClr val="263449"/>
            </a:solidFill>
            <a:prstDash val="solid"/>
          </a:ln>
          <a:effectLst>
            <a:outerShdw sx="100000" sy="100000" kx="0" ky="0" algn="bl" rotWithShape="0" blurRad="161925" dist="85725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1034" y="2039481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7255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4" y="2115681"/>
            <a:ext cx="152400" cy="15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458" y="2129968"/>
            <a:ext cx="99536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SPEED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0379" y="2755761"/>
            <a:ext cx="22098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60379" y="3154620"/>
            <a:ext cx="22098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alert handling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0379" y="3392507"/>
            <a:ext cx="22098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60+ minutes to under 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64665" y="1825883"/>
            <a:ext cx="2614613" cy="1914525"/>
          </a:xfrm>
          <a:prstGeom prst="roundRect">
            <a:avLst>
              <a:gd name="adj" fmla="val 2376"/>
            </a:avLst>
          </a:prstGeom>
          <a:solidFill>
            <a:srgbClr val="111827"/>
          </a:solidFill>
          <a:ln w="3810">
            <a:solidFill>
              <a:srgbClr val="263449"/>
            </a:solidFill>
            <a:prstDash val="solid"/>
          </a:ln>
          <a:effectLst>
            <a:outerShdw sx="100000" sy="100000" kx="0" ky="0" algn="bl" rotWithShape="0" blurRad="161925" dist="85725" dir="54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67695" y="2039481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64E3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895" y="2115681"/>
            <a:ext cx="152400" cy="152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2694" y="2129968"/>
            <a:ext cx="10144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ESCALATION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467070" y="2601456"/>
            <a:ext cx="22098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3467070" y="3000316"/>
            <a:ext cx="22098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blind 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67070" y="3236774"/>
            <a:ext cx="22098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escalation into investigator queues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71382" y="1825883"/>
            <a:ext cx="2614613" cy="1914525"/>
          </a:xfrm>
          <a:prstGeom prst="roundRect">
            <a:avLst>
              <a:gd name="adj" fmla="val 2376"/>
            </a:avLst>
          </a:prstGeom>
          <a:solidFill>
            <a:srgbClr val="111827"/>
          </a:solidFill>
          <a:ln w="3810">
            <a:solidFill>
              <a:srgbClr val="263449"/>
            </a:solidFill>
            <a:prstDash val="solid"/>
          </a:ln>
          <a:effectLst>
            <a:outerShdw sx="100000" sy="100000" kx="0" ky="0" algn="bl" rotWithShape="0" blurRad="161925" dist="85725" dir="5400000">
              <a:srgbClr val="000000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74412" y="2039481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451A0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612" y="2115681"/>
            <a:ext cx="152400" cy="152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35837" y="2129968"/>
            <a:ext cx="10477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&amp; EVIDENCE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273787" y="2668131"/>
            <a:ext cx="22098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6273787" y="3000316"/>
            <a:ext cx="22098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visibility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73787" y="3236774"/>
            <a:ext cx="22098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Audit-ready lifecycle status for every customer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3988058"/>
            <a:ext cx="8229600" cy="433388"/>
          </a:xfrm>
          <a:prstGeom prst="roundRect">
            <a:avLst>
              <a:gd name="adj" fmla="val 9274"/>
            </a:avLst>
          </a:prstGeom>
          <a:solidFill>
            <a:srgbClr val="1E293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133314"/>
            <a:ext cx="142875" cy="1428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67579" y="4121408"/>
            <a:ext cx="66103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lifecycle audit trails support forensic compliance while live status updates strengthen customer trust.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8"/>
          </a:solidFill>
          <a:ln/>
        </p:spPr>
      </p:sp>
      <p:sp>
        <p:nvSpPr>
          <p:cNvPr id="4" name="Text 2"/>
          <p:cNvSpPr/>
          <p:nvPr/>
        </p:nvSpPr>
        <p:spPr>
          <a:xfrm>
            <a:off x="457825" y="370999"/>
            <a:ext cx="46053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 GUARD / NEXT HORIZON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825" y="576263"/>
            <a:ext cx="460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8"/>
              </a:lnSpc>
              <a:buNone/>
            </a:pPr>
            <a:r>
              <a:rPr lang="en-US" sz="25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and Closing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825" y="982504"/>
            <a:ext cx="46053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8A2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intelligent detection to shared financial crime defense.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417" y="431006"/>
            <a:ext cx="133350" cy="133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620" y="419100"/>
            <a:ext cx="1143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 CONTROL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6724" y="1729740"/>
            <a:ext cx="4181475" cy="3071813"/>
          </a:xfrm>
          <a:prstGeom prst="roundRect">
            <a:avLst>
              <a:gd name="adj" fmla="val 1015"/>
            </a:avLst>
          </a:prstGeom>
          <a:solidFill>
            <a:srgbClr val="1C2229"/>
          </a:solidFill>
          <a:ln/>
        </p:spPr>
      </p:sp>
      <p:sp>
        <p:nvSpPr>
          <p:cNvPr id="10" name="Shape 7"/>
          <p:cNvSpPr/>
          <p:nvPr/>
        </p:nvSpPr>
        <p:spPr>
          <a:xfrm>
            <a:off x="704850" y="1959293"/>
            <a:ext cx="57150" cy="247650"/>
          </a:xfrm>
          <a:prstGeom prst="round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847517" y="1990249"/>
            <a:ext cx="150018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850" y="2387918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5879" y="2387918"/>
            <a:ext cx="36718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SAR narratives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75879" y="2596872"/>
            <a:ext cx="367188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Watsonx.ai for faster, clearer suspicious activity reporting.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4374" y="2901077"/>
            <a:ext cx="3686175" cy="4763"/>
          </a:xfrm>
          <a:prstGeom prst="rect">
            <a:avLst/>
          </a:prstGeom>
          <a:solidFill>
            <a:srgbClr val="334155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04850" y="3048714"/>
            <a:ext cx="257175" cy="257175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6414" y="3048714"/>
            <a:ext cx="28479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hidden network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76414" y="3257669"/>
            <a:ext cx="2847975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to GNN-based mule network clustering.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04374" y="3561874"/>
            <a:ext cx="3686175" cy="4763"/>
          </a:xfrm>
          <a:prstGeom prst="rect">
            <a:avLst/>
          </a:prstGeom>
          <a:solidFill>
            <a:srgbClr val="334155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4850" y="3709511"/>
            <a:ext cx="257175" cy="257175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6325" y="3709511"/>
            <a:ext cx="27289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intelligence safely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6325" y="3918466"/>
            <a:ext cx="2728913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cross-bank threat intelligence sharing.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98" y="1729740"/>
            <a:ext cx="3781425" cy="3071813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904898" y="1729740"/>
            <a:ext cx="3781425" cy="3071813"/>
          </a:xfrm>
          <a:prstGeom prst="rect">
            <a:avLst/>
          </a:prstGeom>
          <a:solidFill>
            <a:srgbClr val="0F172A">
              <a:alpha val="42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072" y="3139440"/>
            <a:ext cx="152400" cy="1524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79630" y="3146583"/>
            <a:ext cx="9382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PROMISE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152548" y="3415665"/>
            <a:ext cx="3286125" cy="533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Machine-speed protection.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confidence.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5152072" y="4072890"/>
            <a:ext cx="571500" cy="9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4"/>
          <p:cNvSpPr/>
          <p:nvPr/>
        </p:nvSpPr>
        <p:spPr>
          <a:xfrm>
            <a:off x="5152072" y="4205764"/>
            <a:ext cx="31432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FinGuard turns connected intelligence into action teams can trust.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2026-09-19T08:40:15Z</dcterms:created>
  <dcterms:modified xsi:type="dcterms:W3CDTF">2026-09-19T08:40:15Z</dcterms:modified>
</cp:coreProperties>
</file>