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3657600" cy="320040"/>
          </a:xfrm>
          <a:prstGeom prst="roundRect">
            <a:avLst>
              <a:gd name="adj" fmla="val 42857"/>
            </a:avLst>
          </a:prstGeom>
          <a:solidFill>
            <a:srgbClr val="1E3A5F"/>
          </a:solidFill>
          <a:ln w="6350">
            <a:solidFill>
              <a:srgbClr val="3B82F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AI HACKATHON  *  AI TRACK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Bank Fraud &amp; AML Investigation Copilot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3716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investigator workspace to detect, investigate, and resolve financial fraud alerts powered by AI-driven risk analysis, interactive network graphs, and grounded evidence.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The Infinite Loops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CHARUSAT University  *  September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662940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v1.0  *  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oundRect">
            <a:avLst>
              <a:gd name="adj" fmla="val 42857"/>
            </a:avLst>
          </a:prstGeom>
          <a:solidFill>
            <a:srgbClr val="1E3A5F"/>
          </a:solidFill>
          <a:ln w="6350">
            <a:solidFill>
              <a:srgbClr val="3B82F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058400" cy="9070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Investigations Are Broken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fraud investigators must manually correlate data across 5+ disconnected systems. Each alert takes 45-90 minutes, creating dangerous backlogs of unreviewed critical fraud cases and delayed SAR filings.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9631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45-90 min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ALERT INVESTIGATION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correlation across multiple disconnected systems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233172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249631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Systems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389120" y="31089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TOOLS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3383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Transaction, KYC, network, risk and case management silos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233172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249631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1000s/day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138160" y="31089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UNREVIEWED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0" y="3383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patterns missed; SAR filings delayed for hours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206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4988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 navigate 5+ systems per case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29000" y="41148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4206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0" y="44988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correlation leads to missed fraud signals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41148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206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gaps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44988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trail; SAR documentation fragmented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89720" y="41148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0" y="4206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risk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26880" y="44988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responses expose institutions to penalties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662940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v1.0  *  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oundRect">
            <a:avLst>
              <a:gd name="adj" fmla="val 42857"/>
            </a:avLst>
          </a:prstGeom>
          <a:solidFill>
            <a:srgbClr val="1E3A5F"/>
          </a:solidFill>
          <a:ln w="6350">
            <a:solidFill>
              <a:srgbClr val="3B82F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66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Workspace. All Evidence. AI-Assisted.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0972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331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consolidates every evidence signal into a single investigator workspace with AI-powered analysis - reducing investigation time from 45-90 minutes to under 10 minutes per alert.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76148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explainable factors: Amount, Location, Device, Time, Velocity, Network with animated progress bars and plain-language rationale.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993392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34840" y="2468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Graph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34840" y="276148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vis-network showing transaction relationships and flagged pass-through accounts up to 3 hops deep.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1993392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5320" y="2468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276148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Case-aware AI suggests questions, answers queries grounded in transaction data, generates auditable Investigation Briefs.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547872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657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4360" y="4023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Workflow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431596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Escalate, Monitor, or Mark Legitimate with one click. Decisions persist to backend with operational audit notes.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97680" y="3547872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3657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434840" y="4023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Queue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34840" y="431596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240+ alerts with debounced search, risk/status/location filters, and full pagination backed by dual-mode database.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38160" y="3547872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3657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275320" y="4023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Export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75320" y="431596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comprehensive PDF Investigation Briefs for any case - fully dynamic with all transaction and risk details.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662940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v1.0  *  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oundRect">
            <a:avLst>
              <a:gd name="adj" fmla="val 42857"/>
            </a:avLst>
          </a:prstGeom>
          <a:solidFill>
            <a:srgbClr val="1E3A5F"/>
          </a:solidFill>
          <a:ln w="6350">
            <a:solidFill>
              <a:srgbClr val="3B82F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058400" cy="866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0972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Vanilla JS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14532D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508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*  Port 3000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92240" y="14630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1C191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508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PostgreSQL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509760" y="14630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2E1065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0" y="1508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aiService.js / copilot.js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17099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</a:rPr>
              <a:t>-&gt;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26480" y="17099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</a:rPr>
              <a:t>-&gt;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44000" y="17099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</a:rPr>
              <a:t>-&gt;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" y="2487168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57860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2871216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scoring (6 explainable factors). ALT-10482 returns 94/CRITICAL. Pluggable - swap ML model without changing the API.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487168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57860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Builder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2871216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using vis-network. Returns node/edge data for account relationship diagrams colored by risk level.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767328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8587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4151376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NL Q&amp;A with AML compliance guardrails. Pluggable endpoint for IBM watsonx.ai / Granite LLM integration.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3767328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8587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Generator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4151376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accounts, 11200+ transactions, 240 alerts including benchmark cases ALT-10482 and ALT-00200.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5138928"/>
            <a:ext cx="11247120" cy="1554480"/>
          </a:xfrm>
          <a:prstGeom prst="roundRect">
            <a:avLst>
              <a:gd name="adj" fmla="val 7059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51755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51755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440680"/>
            <a:ext cx="1124712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54864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/api/alerts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548640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Paginated, filtered alert queue with search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" y="5760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/api/alerts/:id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37760" y="57607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alert + Risk Engine + Network Graph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" y="60350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/api/copilot/chat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37760" y="60350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natural language investigation query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4360" y="63093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/api/reports/investigation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37760" y="63093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PDF investigation brief generation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662940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v1.0  *  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oundRect">
            <a:avLst>
              <a:gd name="adj" fmla="val 42857"/>
            </a:avLst>
          </a:prstGeom>
          <a:solidFill>
            <a:srgbClr val="1E3A5F"/>
          </a:solidFill>
          <a:ln w="6350">
            <a:solidFill>
              <a:srgbClr val="3B82F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058400" cy="866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in Action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0972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Queue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240+ alerts with real-time search, Risk Level/Status/Location filters, color-coded badges, scores out of 100, and full pagination.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0D1B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420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QUEUE - 240 alerts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ALT-00200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72768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Gupta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62656" y="2926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86784" y="2926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57/100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45152" y="2926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50292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0156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ALT-00066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72768" y="34015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Yamini Yadav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62656" y="340156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86784" y="340156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65/100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45152" y="340156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721608"/>
            <a:ext cx="50292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87705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ALT-00012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72768" y="38770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 Chauhan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62656" y="387705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86784" y="38770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45152" y="387705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197096"/>
            <a:ext cx="50292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35254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ALT-00052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72768" y="435254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Nair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62656" y="435254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86784" y="435254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49/100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45152" y="435254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672584"/>
            <a:ext cx="50292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8280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ALT-00026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572768" y="4828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Reddy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962656" y="48280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86784" y="48280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92/100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45152" y="48280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5148072"/>
            <a:ext cx="50292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53035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ALT-10482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572768" y="5303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Mehta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962656" y="53035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986784" y="5303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94/100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45152" y="53035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Brief (Report)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09360" y="175564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PDF briefs for any case. Shows risk score, customer profile, transaction context, classification - Print / Save as PDF.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309360" y="2423160"/>
            <a:ext cx="5486400" cy="3931920"/>
          </a:xfrm>
          <a:prstGeom prst="roundRect">
            <a:avLst>
              <a:gd name="adj" fmla="val 2791"/>
            </a:avLst>
          </a:prstGeom>
          <a:solidFill>
            <a:srgbClr val="0D1B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2560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Investigation Brief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492240" y="28346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Fraud &amp; AML Operations Platform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00800" y="3090672"/>
            <a:ext cx="530352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1" name="Text 49"/>
          <p:cNvSpPr/>
          <p:nvPr/>
        </p:nvSpPr>
        <p:spPr>
          <a:xfrm>
            <a:off x="6446520" y="3182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REFERENCE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412480" y="31821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ALT-00200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446520" y="3520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41248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53/100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446520" y="3858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412480" y="38587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Gupta (A0163)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446520" y="41970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TXN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412480" y="41970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Rs.1,92,352  Lucknow  Oppo Reno 8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446520" y="45354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 PROFILE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412480" y="45354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City: Bangalore  Avg: Rs.14,807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446520" y="48737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412480" y="4873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A0412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446520" y="5212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412480" y="5212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Rajan (Senior AML Investigator)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446520" y="5550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412480" y="55504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Candidate / Regulatory Review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446520" y="6035040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46520" y="6035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/ Save as PDF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65760" y="662940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v1.0  *  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70E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oundRect">
            <a:avLst>
              <a:gd name="adj" fmla="val 42857"/>
            </a:avLst>
          </a:prstGeom>
          <a:solidFill>
            <a:srgbClr val="1E3A5F"/>
          </a:solidFill>
          <a:ln w="6350">
            <a:solidFill>
              <a:srgbClr val="3B82F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058400" cy="866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IBM Bob AI Platform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0972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was architected and built entirely using IBM Bob as the AI development assistant. Bob maintained context across frontend, backend, data, and stub layers - enabling all 4 members to collaborate via Bob sessions.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5852160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231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24912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reasoned about multi-member team structure, dual-mode database strategy, and stub integration contracts for parallel development.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5852160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474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Code Gen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776472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Express API, database layer, frontend pages, Chart.js dashboards, and vis-network graphs - all generated with Bob.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462272"/>
            <a:ext cx="5852160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262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Handoffs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828032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contracts, member handoff guides, AML compliance guardrails, and submission docs authored through Bob sessions.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513832"/>
            <a:ext cx="5852160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5778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 Ready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879592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pluggable endpoint designed to integrate IBM watsonx.ai / Granite LLM when API key is provided.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5029200" cy="118872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44475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903720" y="19933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Generated with IBM Bob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2697480"/>
            <a:ext cx="5029200" cy="118872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77063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903720" y="33192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via Bob Sessions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4023360"/>
            <a:ext cx="5029200" cy="118872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409651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6903720" y="46451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 Built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5349240"/>
            <a:ext cx="5029200" cy="118872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542239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6903720" y="59710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Ready Integration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662940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v1.0  *  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oundRect">
            <a:avLst>
              <a:gd name="adj" fmla="val 42857"/>
            </a:avLst>
          </a:prstGeom>
          <a:solidFill>
            <a:srgbClr val="1E3A5F"/>
          </a:solidFill>
          <a:ln w="6350">
            <a:solidFill>
              <a:srgbClr val="3B82F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058400" cy="866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Investigation Improvement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0972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3619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REDUCTION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45-90 min to under 10 min per alert with unified workspace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137160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53619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343400" y="2148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FACTORS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4340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Location, Device, Time, Velocity, Network with progress bars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37160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53619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138160" y="2148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BRIEF GEN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auditable investigation reports generated instantly for any case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91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Dual-Mode Database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58444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 store for instant evaluation; PostgreSQL for production - zero config for judges.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320040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291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AML Compliance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358444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responses include mandatory sentence hedging - never presents output as definitive conclusions.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389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Pluggable Architecture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68172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engine, network builder, and AI copilot are isolated stub modules - swap without changing API.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429768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4389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Full Test Suite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468172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Supertest API tests validate all endpoints, pagination, search, and edge cases.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539496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486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Benchmark Case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577900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ALT-10482 (Vikram Mehta, Rs.75000, 94/CRITICAL) provides fully-evidenced reproducible demo.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26480" y="539496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5486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Synthetic Dataset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09360" y="577900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accounts, 11200+ transactions, 240 alerts - realistic scale for evaluation without real PII.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5760" y="662940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v1.0  *  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4270248" y="228600"/>
            <a:ext cx="3657600" cy="320040"/>
          </a:xfrm>
          <a:prstGeom prst="roundRect">
            <a:avLst>
              <a:gd name="adj" fmla="val 42857"/>
            </a:avLst>
          </a:prstGeom>
          <a:solidFill>
            <a:srgbClr val="1E3A5F"/>
          </a:solidFill>
          <a:ln w="6350">
            <a:solidFill>
              <a:srgbClr val="3B82F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9473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Infinite Loops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CHARUSAT University  *  AI Track  *  IBM Bob AI Hackathon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03520" y="1536192"/>
            <a:ext cx="14630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783080"/>
            <a:ext cx="1280160" cy="1280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7830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2286000" cy="201168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375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Bhatti Meet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Shaileshbhai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397764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9776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437083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25dce010@charusat.edu.in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23360" y="1783080"/>
            <a:ext cx="1280160" cy="12801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17830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3611880" y="3246120"/>
            <a:ext cx="2286000" cy="201168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33375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Bhensdadiya Jay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31920" y="397764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39776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437083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d26dce128@charusat.edu.in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95160" y="1783080"/>
            <a:ext cx="1280160" cy="1280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7830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583680" y="3246120"/>
            <a:ext cx="2286000" cy="201168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33375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Dangar Jay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03720" y="397764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9776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437083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d26aiml091@charusat.edu.in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966960" y="1783080"/>
            <a:ext cx="1280160" cy="12801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6960" y="17830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9555480" y="3246120"/>
            <a:ext cx="2286000" cy="201168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46920" y="33375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Kushal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875520" y="397764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0" y="39776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0" y="437083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d26dce143@charusat.edu.in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14400" y="5623560"/>
            <a:ext cx="10332720" cy="777240"/>
          </a:xfrm>
          <a:prstGeom prst="roundRect">
            <a:avLst>
              <a:gd name="adj" fmla="val 1411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562356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1188720" y="57150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- Making AML investigations faster, smarter, and auditable.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88720" y="6053328"/>
            <a:ext cx="9784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github.com/bob-ai-hackathon-team-The-Infinite-Loops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662940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v1.0  *  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CHARUSAT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FinGuard - AI-Powered AML Investigation Copilot</dc:title>
  <dc:subject>IBM Bob AI Hackathon 2026</dc:subject>
  <dc:creator>The Infinite Loops</dc:creator>
  <cp:lastModifiedBy>The Infinite Loops</cp:lastModifiedBy>
  <cp:revision>1</cp:revision>
  <dcterms:created xsi:type="dcterms:W3CDTF">2026-09-15T15:35:46Z</dcterms:created>
  <dcterms:modified xsi:type="dcterms:W3CDTF">2026-09-15T15:35:46Z</dcterms:modified>
</cp:coreProperties>
</file>